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ccac620bf4584" /><Relationship Type="http://schemas.openxmlformats.org/officeDocument/2006/relationships/extended-properties" Target="/docProps/app.xml" Id="R19734f0705954434" /><Relationship Type="http://schemas.openxmlformats.org/officeDocument/2006/relationships/officeDocument" Target="/ppt/presentation.xml" Id="Rd6996596fdaf4d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18a81b16341e8"/>
  </p:sldMasterIdLst>
  <p:notesMasterIdLst>
    <p:notesMasterId xmlns:r="http://schemas.openxmlformats.org/officeDocument/2006/relationships" r:id="R8d3fbf99cfb4409c"/>
  </p:notesMasterIdLst>
  <p:sldIdLst>
    <p:sldId xmlns:r="http://schemas.openxmlformats.org/officeDocument/2006/relationships" id="256" r:id="R8122f89545eb4be8"/>
    <p:sldId xmlns:r="http://schemas.openxmlformats.org/officeDocument/2006/relationships" id="257" r:id="R77e4de7dfa374f76"/>
    <p:sldId xmlns:r="http://schemas.openxmlformats.org/officeDocument/2006/relationships" id="258" r:id="R8288dccd962f4e3d"/>
    <p:sldId xmlns:r="http://schemas.openxmlformats.org/officeDocument/2006/relationships" id="259" r:id="R71e9c1df9e4042fa"/>
    <p:sldId xmlns:r="http://schemas.openxmlformats.org/officeDocument/2006/relationships" id="260" r:id="R51c51f3f83354c7e"/>
    <p:sldId xmlns:r="http://schemas.openxmlformats.org/officeDocument/2006/relationships" id="261" r:id="Rec9c79e8506a4ad7"/>
    <p:sldId xmlns:r="http://schemas.openxmlformats.org/officeDocument/2006/relationships" id="262" r:id="Ra101b6bb450b40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841e007f1d4135" /><Relationship Type="http://schemas.openxmlformats.org/officeDocument/2006/relationships/slideMaster" Target="/ppt/slideMasters/slideMaster1.xml" Id="Rc7218a81b16341e8" /><Relationship Type="http://schemas.openxmlformats.org/officeDocument/2006/relationships/notesMaster" Target="/ppt/notesMasters/notesMaster1.xml" Id="R8d3fbf99cfb4409c" /><Relationship Type="http://schemas.openxmlformats.org/officeDocument/2006/relationships/presProps" Target="/ppt/presProps.xml" Id="R086b8322d0fe4c6c" /><Relationship Type="http://schemas.openxmlformats.org/officeDocument/2006/relationships/tableStyles" Target="/ppt/tableStyles.xml" Id="Rda39b2ac7ef049d7" /><Relationship Type="http://schemas.openxmlformats.org/officeDocument/2006/relationships/slide" Target="/ppt/slides/slide1.xml" Id="R8122f89545eb4be8" /><Relationship Type="http://schemas.openxmlformats.org/officeDocument/2006/relationships/slide" Target="/ppt/slides/slide2.xml" Id="R77e4de7dfa374f76" /><Relationship Type="http://schemas.openxmlformats.org/officeDocument/2006/relationships/slide" Target="/ppt/slides/slide3.xml" Id="R8288dccd962f4e3d" /><Relationship Type="http://schemas.openxmlformats.org/officeDocument/2006/relationships/slide" Target="/ppt/slides/slide4.xml" Id="R71e9c1df9e4042fa" /><Relationship Type="http://schemas.openxmlformats.org/officeDocument/2006/relationships/slide" Target="/ppt/slides/slide5.xml" Id="R51c51f3f83354c7e" /><Relationship Type="http://schemas.openxmlformats.org/officeDocument/2006/relationships/slide" Target="/ppt/slides/slide6.xml" Id="Rec9c79e8506a4ad7" /><Relationship Type="http://schemas.openxmlformats.org/officeDocument/2006/relationships/slide" Target="/ppt/slides/slide7.xml" Id="Ra101b6bb450b40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b2e51f4d0642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dc91b4c73443ee" /><Relationship Type="http://schemas.openxmlformats.org/officeDocument/2006/relationships/notesMaster" Target="/ppt/notesMasters/notesMaster1.xml" Id="Rbe165cbb8e5c41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5a45aafbc94dd8" /><Relationship Type="http://schemas.openxmlformats.org/officeDocument/2006/relationships/notesMaster" Target="/ppt/notesMasters/notesMaster1.xml" Id="Re4ea7e9cdccd4a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f867a779e54d0c" /><Relationship Type="http://schemas.openxmlformats.org/officeDocument/2006/relationships/notesMaster" Target="/ppt/notesMasters/notesMaster1.xml" Id="Rc6630cda9ad3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5811b46bc46d4" /><Relationship Type="http://schemas.openxmlformats.org/officeDocument/2006/relationships/notesMaster" Target="/ppt/notesMasters/notesMaster1.xml" Id="Rd80388ca0c5c4d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b47bd4cbc4812" /><Relationship Type="http://schemas.openxmlformats.org/officeDocument/2006/relationships/notesMaster" Target="/ppt/notesMasters/notesMaster1.xml" Id="R00d32f4df9184a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37a6e45f954900" /><Relationship Type="http://schemas.openxmlformats.org/officeDocument/2006/relationships/notesMaster" Target="/ppt/notesMasters/notesMaster1.xml" Id="R9d52948f648c4f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a2a534b119467d" /><Relationship Type="http://schemas.openxmlformats.org/officeDocument/2006/relationships/notesMaster" Target="/ppt/notesMasters/notesMaster1.xml" Id="Rd9497f7770a8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6954b8f3c46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2ca0e15dda4d21" /><Relationship Type="http://schemas.openxmlformats.org/officeDocument/2006/relationships/slideLayout" Target="/ppt/slideLayouts/slideLayout1.xml" Id="Rf03f1e77abd244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3f1e77abd244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58d5bb8314415" /><Relationship Type="http://schemas.openxmlformats.org/officeDocument/2006/relationships/image" Target="/ppt/media/image.png" Id="R436abde7a0d44772" /><Relationship Type="http://schemas.openxmlformats.org/officeDocument/2006/relationships/notesSlide" Target="/ppt/notesSlides/notesSlide1.xml" Id="Raf6f38b962f04e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f60ed32c847f6" /><Relationship Type="http://schemas.openxmlformats.org/officeDocument/2006/relationships/notesSlide" Target="/ppt/notesSlides/notesSlide2.xml" Id="R629a4b6b5ea34d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7dc4d688346da" /><Relationship Type="http://schemas.openxmlformats.org/officeDocument/2006/relationships/notesSlide" Target="/ppt/notesSlides/notesSlide3.xml" Id="R333d24fc8ce242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0bc2fa7b24c2b" /><Relationship Type="http://schemas.openxmlformats.org/officeDocument/2006/relationships/image" Target="/ppt/media/image2.png" Id="Rcb4328f695aa403c" /><Relationship Type="http://schemas.openxmlformats.org/officeDocument/2006/relationships/notesSlide" Target="/ppt/notesSlides/notesSlide4.xml" Id="R072ad62c3b8b4b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c698c8f084a8d" /><Relationship Type="http://schemas.openxmlformats.org/officeDocument/2006/relationships/image" Target="/ppt/media/image3.png" Id="Rd3c31c918a0d4d59" /><Relationship Type="http://schemas.openxmlformats.org/officeDocument/2006/relationships/notesSlide" Target="/ppt/notesSlides/notesSlide5.xml" Id="Raf87eb70e637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d3ca6a73848f7" /><Relationship Type="http://schemas.openxmlformats.org/officeDocument/2006/relationships/notesSlide" Target="/ppt/notesSlides/notesSlide6.xml" Id="Rffba05a0bdbd47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a3ac307714f16" /><Relationship Type="http://schemas.openxmlformats.org/officeDocument/2006/relationships/notesSlide" Target="/ppt/notesSlides/notesSlide7.xml" Id="Rf7b3146da34847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E9FFF9-36D5-4909-9F4E-1A3E560F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C2202-FEF6-4A96-9D6D-7FF9E190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71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Explainable AI for Telecom Churn</a:t>
            </a:r>
          </a:p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Prediction and Retention Personas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F8A61-9737-4D84-A61A-997C446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Random Forest, SHAP, and SHAP theme clustering turn churn scores into retention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61366-BC5E-4B4C-928D-BC133AC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Vũ Trung Kiên  •  IS6502.CH201  •  Final paper and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E94FB-F1E4-49E0-89C2-7FA123A0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E78B5-8A0A-4BEA-9B94-BBB6A15F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7,043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8ADE6-ECF9-44CF-A9E4-0F9D4CD7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B0B54-E186-46D8-836E-3EBB8100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Telco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492F3-B8BA-4DB2-9C10-67AF9CA6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1060F-F9C7-448F-97D5-123A8BD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481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1E77E-CFC1-414B-9EC5-F66CF98A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72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6043C-B931-4B38-92D4-2202D854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625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compared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32682-AC82-45F3-A92A-0AC0329D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95750"/>
            <a:ext cx="1466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E2D48-A8FE-4865-8196-44DFBA9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481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930AC-C6D4-4965-B034-AA4522F0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720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personas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C8EC6-D7B3-4A4A-886B-8C41E25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retention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69656-C714-4A3A-B86B-EC781557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"/>
            <a:ext cx="53340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044D6-70DA-4E41-A047-63BE04D7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81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Global SHAP evidence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abde7a0d44772"/>
          <a:stretch xmlns:a="http://schemas.openxmlformats.org/drawingml/2006/main"/>
        </p:blipFill>
        <p:spPr>
          <a:xfrm xmlns:a="http://schemas.openxmlformats.org/drawingml/2006/main">
            <a:off x="6457950" y="1646039"/>
            <a:ext cx="4800600" cy="3375422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5A8B7-5D50-4D73-AF95-67F0CD0A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341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1962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043DB-ED5D-4DDD-8129-E5895785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07529-C070-497A-AC26-E41111CF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pipeline links prediction, explanation, and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23BEB-3ABF-4703-9D35-4A12A854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 goal is not only to score churn risk, but to understand why customers leave and what retention offer fits each group.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98119C98-2279-4C48-963A-FE65459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DF79A-720E-4541-96BA-72F506F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14EBC-3A9E-4F18-BCC1-2A19988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Predict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22ACF-AE71-47B6-BED4-350C20A0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Compare multiple models on the same Telco churn split and keep the best-performing benchmark in view.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C69B1923-6493-420E-8F43-E4400290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7406D-17E0-4077-A4A6-88B33B97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73BCF-1BFD-49C5-A6C9-387F73EC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Explain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66A43-9916-4659-8DB2-BC0CA672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Use SHAP to rank the strongest churn drivers and interpret them in business terms.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0B605C03-EA8B-423E-9045-353EDAF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2A945-EE0A-4FA6-B7D0-E9F9938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485CF-F129-4237-8E72-11F13CE2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5A01D-6476-4BD5-A4CE-8EF5C51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Cluster the SHAP themes into personas and turn them into specific retention 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28A57-F365-4F4A-923F-518CD951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32D18-D8A0-46A0-9A51-AC4E9DEE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26.54%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EE3BC-9344-41E9-BFF2-A11F6AAA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churn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F1CF3-A662-4370-BBFA-BF1F28B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1,869 of 7,043 customers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B8F69-676F-4290-A01B-59B8F040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6690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54FCE-B934-4D82-A194-3ABEBF1E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80/20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B5709-551F-4363-9FEB-AB22901C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train/test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51D47-99EE-4F58-BBFC-FC9E434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stratified by churn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C3051-0CF7-441F-9059-79E78668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419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2E43C3-FEC7-49B6-BC6F-60C6940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19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41377-478A-4013-838C-B6014094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431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persona clusters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D7C35F-1B08-4323-8570-F8DB82F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theme-level SHAP 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EC10A-9C49-44A8-8B57-8A049330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69913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9C76AB-DC01-4C02-882C-6D44BA42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86150"/>
            <a:ext cx="636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Why the workflow matters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4B66F-1312-4F30-94E1-2FD4F7CE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619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churn score alone is not enough for retention planning. The paper is designed to answer three questions in sequence: who is likely to leave, what drives that decision, and which offer should be used for that customer group.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6EA1D-58C9-4389-BDEB-177740D6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341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8565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874E50-13C5-4CF4-883F-7AD7CE2A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C96DC-631A-494E-B462-2E7A5CF0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Logistic Regression led the benchmark,</a:t>
            </a:r>
          </a:p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but Random Forest stayed in the paper for explainability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E7E89-B04E-4A85-A99F-B1FCAA81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 numerical gap is small enough that interpretability becomes the deciding factor for the final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2A896-05C5-4278-A958-CD817D27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74370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0CD75-BD98-42B1-9A38-499CDD8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Accuracy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32FD7-A5F0-406E-944E-0D691729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LogReg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54488-8C81-4C73-83A1-C0DEF693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336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29C3C-1A35-49ED-9D81-51511A4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336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09CBE-5768-4FEB-856F-AD9042C4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0.7903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CF167-50E6-4C76-BD6E-2011EC26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XGB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D9354-59FB-4578-A76E-63821ABC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27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18782-FBB9-4897-8420-24FADCFD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2700"/>
            <a:ext cx="44481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89365-321D-45EC-8EED-61670EA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0.7854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DB66B-A897-49D7-952F-2B48F5B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RF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7F39A-DC54-4158-8126-EBC79EEF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D0D33-B5C2-4FFC-95D5-E3B5DA6F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44481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174B8-B806-4771-8231-D464CBD6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0.7846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680AB-C657-4818-B769-0BD36359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E885D-186F-46B6-A12D-5C77690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909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6FB82-87AE-4116-9D99-5259A2CD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90900"/>
            <a:ext cx="44386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FD077-66F3-4841-A642-16CAB0C0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0.7832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872DE-0DE2-4A08-855F-F501396A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SVM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801AE-A90A-4F06-B24F-7F124078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100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FCCBC-FA88-44F2-9E14-6C8A7B3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10000"/>
            <a:ext cx="44386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EB2A0-7DE3-4243-8BD6-35A8D188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1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0.7839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AC548-6E7A-4709-A038-C4FD0F69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KNN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3CE9C-1DDE-44CF-9DF0-42693AB7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7C179A-8C96-4430-8E95-0BE7327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4362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88429-1B55-47FA-ABC0-D358A751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0.7697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F30AC-EE12-4A7F-9C24-28A6BB48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NB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151AEB-FCEE-4149-B132-441FA91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482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686C71-756A-4753-A771-A8470046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4820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A02B86-8AE6-4EFF-8B7D-84D9AAC2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0.7562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E06AA-2EFB-4764-B2F8-8B5FDFC6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7DB5EE-27B6-4B24-A3E3-5FB6361F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673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4EC73E-AF00-49A4-A464-72F68AED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67300"/>
            <a:ext cx="41148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5B0D08-7A66-4A0D-B681-60B8BA40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92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0.7257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214789-2038-4486-9D6E-236031E7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38300"/>
            <a:ext cx="3581400" cy="43624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B44618-C1A7-4FB3-8F45-6CD7F2E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What the benchmark says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A77FCF-03AF-49C0-9B77-E8A41360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067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D19FD7-3D08-4063-978D-FDF96502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955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Best accuracy and AUC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78055D-F29B-4020-A954-9908F844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Logistic Regression reached 0.7903 accuracy and 0.8359 AUC.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4F2F42-F9C4-4202-ACF3-8282338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3067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9BD1C7-1F9D-4BC1-ABC3-22A0FAB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Selected base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EA54EC-B9E9-4C77-8FAA-D239F446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Random Forest reached 0.7846 accuracy and was kept because TreeExplainer works naturally on it.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3C2CC5-42BE-41EF-82D3-62DD6BD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30670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B9DB0E-3C87-411D-B883-5E3C97AA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91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Practical reading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60CBE1-6B52-40F4-ABF9-B1570DCB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958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 benchmark is close enough that the paper favors the model that produces the most useful explanation layer.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1BC2C5-FF94-4788-8990-9C47D8B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341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6122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BEED0-9485-44E6-A093-BADDD26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A8720-D333-40CF-AAF3-406514C7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Contract is the strongest signal because it captures customer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77BD8-7ADD-4910-84D3-E33E4BE6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SHAP shows that commitment and service quality dominate the churn decision, with contract type leading the ranking.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D4A16-4894-4B85-A609-5770FF54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865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328f695aa403c"/>
          <a:stretch xmlns:a="http://schemas.openxmlformats.org/drawingml/2006/main"/>
        </p:blipFill>
        <p:spPr>
          <a:xfrm xmlns:a="http://schemas.openxmlformats.org/drawingml/2006/main">
            <a:off x="1157182" y="1847850"/>
            <a:ext cx="5743787" cy="40386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E6ED7-4107-4837-9DA2-80FC4E05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38300"/>
            <a:ext cx="3752850" cy="445770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F5CBA-A621-42D2-AFD5-F21E15C8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19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B1EE9-72C7-4F89-A34C-B2E912C4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Top 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461A8-7F58-4C92-B3DB-71AD142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Contract is the most important feature in the paper, with mean |SHAP| of 0.0794.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7D699-A4AF-4100-B3B9-184488FC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3219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D1916-FED3-4FDE-923C-D567EE00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Retention 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FE663-07B2-4101-80F6-62961EFF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Month-to-month customers churn at 0.427, versus 0.113 for one-year plans and 0.028 for two-year plans.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EF27A-B8AE-4D48-9626-7C29E25A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2194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A4E92-1CE1-4C77-ADF8-76454441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Secondary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0F9AB-D31D-4542-864D-D427A608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OnlineSecurity, TechSupport, TotalCharges, and tenure fill out the rest of the top five. Together they describe commitment, service quality, and price pressure.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A7C61-F309-41F1-93B4-126C630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341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2249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F93A9B-24F6-4149-90FE-D3351201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4A2C1-F89A-462A-BC0E-996BADB5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Grouping SHAP by theme gives the cleanest cluster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FFB0B-762E-41A6-9BDB-A1777AA4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Theme aggregation improves separability because it reduces overlap among correlated drivers such as Contract and tenure.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8B32E-4D7F-467D-9B94-ABB2D20F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4008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31c918a0d4d59"/>
          <a:stretch xmlns:a="http://schemas.openxmlformats.org/drawingml/2006/main"/>
        </p:blipFill>
        <p:spPr>
          <a:xfrm xmlns:a="http://schemas.openxmlformats.org/drawingml/2006/main">
            <a:off x="857250" y="2618886"/>
            <a:ext cx="6057900" cy="2496527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2C7D3-7C5B-44DE-A199-AC177BB9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38300"/>
            <a:ext cx="4305300" cy="44577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6861A-47B0-4226-BFDA-64B0FD29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66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Ablation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948AB-F322-4C56-8F0A-01546E33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203E0-6419-4CF4-A421-80A30BD2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0.3002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B7E75-4DE4-4B18-ABA8-FB594ED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0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raw_feature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96F36-9B4B-4811-8162-1AF26910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 silhouette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12202-5A05-4184-9ED1-DF269D8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24100"/>
            <a:ext cx="171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418BA-4AD3-4974-BD31-98614BEC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0.3073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4BE2E-AD9D-4E6B-AA54-D6D02FB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shap_value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30C09-1E61-44E6-9F58-D8802EB1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908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+2.36% vs raw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462DB-DDB4-4C29-99D2-B9D8DFD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3657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C83F6-1954-4F34-9D93-A81872F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957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0.3157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D8001-C741-4542-8A37-D0B13AC2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95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shap_theme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2D0C1-F4C5-436D-BFC3-1CB4C26D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1005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+5.16% vs raw_feature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6A9E1-1F78-4B59-B6A2-076DA54A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81550"/>
            <a:ext cx="365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269BB-46B6-4812-801F-F15CDBA3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149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Why it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47219-6762-4459-83D9-79FCDE25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9700"/>
            <a:ext cx="331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 best clustering space is also the one that gives the most interpretable business themes, so the paper uses shap_theme as the official persona space.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2908C-8A8F-4D63-88C7-67A0166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341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61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1BCB4-87C2-479E-9175-9AC6879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CFF4F-331A-475A-AAAF-88E5C3E8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Five personas translate the SHAP themes into retention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EEA36-17BF-410A-9951-632406C6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 clusters are statistically separable and each one maps to a clear business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6807D-97C0-4131-B615-2B112062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17583-0B86-43F6-AFB8-E5459968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Persona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56C1F-8877-45B0-871A-F8F81DB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Service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E2051-059E-42F8-A447-C944B286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230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32C21-85C9-49B2-899D-6644611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622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2074B-9F60-4D08-99F6-1DADB5F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Distinctive feature: OnlineSecurity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B770D-3CEC-4F05-95C4-617562DE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Strengthen technical support, improve network quality, and provide post-sales care.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916B4-951E-4F1C-BEB8-6AB98633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9545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4F9E4-BFBB-4BCC-AE3B-E5802F28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2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Persona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1358D-2FF2-4844-B72E-27C42015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Commitment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A002D-DD82-4D31-A3F4-8E9FB9A5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582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13CF3-ED49-4EC9-815A-C83D25DD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customers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105BA-4165-4ED4-BAF5-F2744699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Distinctive feature: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41C7B-5F4E-41FC-A4D2-8CF1085E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Offer long-term contract incentives and staged retention programs.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B87A7-5A15-440F-A07C-F548009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9545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AA186-B41A-4CD9-8241-F5A269C9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2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Persona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1AF02-EB4F-4A2C-839C-1B980710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19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Service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AC486-A2D7-4092-B1A2-497C2857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237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88A7D-34C8-4564-9C21-9BE70E4C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customers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361A6-E0EC-4AA4-9C2E-96089E30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Distinctive feature: InternetService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574CF-4947-4F46-8B2B-F3E5D85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Strengthen technical support, improve network quality, and provide post-sales care.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09A30-BCC9-41F2-89A2-AC33F57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2387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61B02-CF48-49B7-8B1C-3373CA5F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Persona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69614-8944-4539-BEB6-F1D2B457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Lifestyle Bundle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7FB2B-D8CF-4610-8F57-A81CE2EE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225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7B31F-C00C-4DA5-9B46-5DF40E32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customers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2BFF2C-0612-4423-8E16-D9AAF73F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Distinctive feature: 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0DF18-E614-4592-9975-5FA28A90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Offer discounted bundles for streaming and multiple-line services.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F62188-AFF1-4EA3-B870-F6D6390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52387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2425DB-7DC3-4F32-92CF-4FCF18DB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Persona 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05F92A-47CC-42B1-9F5E-EEC3B654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Cost Pressure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F543F5-D44D-4469-90BA-23CCB496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133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649757-488D-4389-90BD-1C4B8EAD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481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customers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BF8585-8D81-4D82-A033-53B4A2A6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Distinctive feature: TotalCharges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82156E-53B4-404A-87BE-9EEA6A7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Provide fee reductions, vouchers, or flexible plans.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78A6E1-CF36-4472-8C36-5DA6DD32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Kruskal-Wallis testing shows that all four themes differ significantly across the personas.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0A296-D569-4F18-A0B2-6BA13304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341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36848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D23C4-7B62-445E-AA12-6CC4D17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C80BE-E5A2-49C6-AF42-5D55F73E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paper turns churn prediction into a retention playbook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AD30F-4D53-49AE-AD17-389B51B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Prediction, explanation, and action are now one pipeline instead of three disconnected outputs.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27616-56CB-46CA-BEF5-124E26FD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3911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14F29-A2F2-4F1A-8567-E009EAFF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What the paper shows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A4380-7D48-47E2-8CE3-E1D4F8D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010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2F073-2E07-421B-9161-D3AB99D1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1. Commitment matters most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7870C-3246-4074-B641-C2208F1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Contract is the strongest SHAP driver, and month-to-month customers churn much more often than longer-term customers.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7F1F1-6C6C-4682-BC81-6ACED947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5010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EE4DF-1DB1-475D-8613-A58203E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2. Service quality and price pressure matter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8D597-AF30-457D-A0D6-9EB3DF86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OnlineSecurity, TechSupport, TotalCharges, and tenure complete the main explanation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BFC3F-AEC7-4CCB-A87A-175F4E0C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5010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AA590-CE7D-4FA7-B1BC-949F962C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3. Themes produce action-ready personas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4C1D8-77B1-455C-B82B-C16584E9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466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Theme-level SHAP clustering gives five statistically distinct groups that can be matched to retention offers.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8DBB9-AE3E-4CC1-8651-53552C5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52959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3FD03-D91C-4EDA-976E-FB708979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How to use it 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0C009-A494-4A24-9997-92BDE6B9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876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F9D4E-AB4F-4E13-B695-5F352E1F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Target the largest persona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18557-0CEE-433A-BE02-B4C0A407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860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 commitment-sensitive group is the biggest cluster, so contract incentives and staged retention should be the first business test.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DBE78-7E13-42CF-A3E4-40B5C1C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4876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E9959-4F72-44ED-A541-89DA948F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Then tailor the service-quality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0CF0E-96A4-4A0D-9339-86A669A2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Two separate personas point to service issues, so technical support and network improvement should be tested next.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D6053-74B7-4EC3-9DF3-FBACCF0A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876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994F18-D6A2-44D7-8AB2-D43FB7BA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Extend the dataset before the next iteration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B93FBC-1387-4FDE-B63D-E7DDA2E4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52950"/>
            <a:ext cx="4533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More behavioral data would likely sharpen persona separation and make the action layer even more precise.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63B3D-CE76-4D92-AAB9-B37DBFF9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Final message: explain the churn signal before deciding what retention action to take.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E95CF-05E5-4C27-89CB-56E4399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341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5875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2026-07-08T19:28:44.3700000Z</dcterms:created>
  <dcterms:modified xsi:type="dcterms:W3CDTF">2026-07-08T19:28:44.3700000Z</dcterms:modified>
</coreProperties>
</file>